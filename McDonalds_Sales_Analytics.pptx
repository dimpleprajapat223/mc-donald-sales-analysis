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810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E15-4FDF-A853-6AF0732340C4}"/>
              </c:ext>
            </c:extLst>
          </c:dPt>
          <c:dPt>
            <c:idx val="1"/>
            <c:invertIfNegative val="0"/>
            <c:bubble3D val="0"/>
            <c:spPr>
              <a:solidFill>
                <a:srgbClr val="D940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E15-4FDF-A853-6AF0732340C4}"/>
              </c:ext>
            </c:extLst>
          </c:dPt>
          <c:dPt>
            <c:idx val="2"/>
            <c:invertIfNegative val="0"/>
            <c:bubble3D val="0"/>
            <c:spPr>
              <a:solidFill>
                <a:srgbClr val="C810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E15-4FDF-A853-6AF0732340C4}"/>
              </c:ext>
            </c:extLst>
          </c:dPt>
          <c:dPt>
            <c:idx val="3"/>
            <c:invertIfNegative val="0"/>
            <c:bubble3D val="0"/>
            <c:spPr>
              <a:solidFill>
                <a:srgbClr val="B80D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E15-4FDF-A853-6AF0732340C4}"/>
              </c:ext>
            </c:extLst>
          </c:dPt>
          <c:dPt>
            <c:idx val="4"/>
            <c:invertIfNegative val="0"/>
            <c:bubble3D val="0"/>
            <c:spPr>
              <a:solidFill>
                <a:srgbClr val="A50B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E15-4FDF-A853-6AF0732340C4}"/>
              </c:ext>
            </c:extLst>
          </c:dPt>
          <c:dPt>
            <c:idx val="5"/>
            <c:invertIfNegative val="0"/>
            <c:bubble3D val="0"/>
            <c:spPr>
              <a:solidFill>
                <a:srgbClr val="920A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E15-4FDF-A853-6AF0732340C4}"/>
              </c:ext>
            </c:extLst>
          </c:dPt>
          <c:dPt>
            <c:idx val="6"/>
            <c:invertIfNegative val="0"/>
            <c:bubble3D val="0"/>
            <c:spPr>
              <a:solidFill>
                <a:srgbClr val="7F08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E15-4FDF-A853-6AF0732340C4}"/>
              </c:ext>
            </c:extLst>
          </c:dPt>
          <c:dPt>
            <c:idx val="7"/>
            <c:invertIfNegative val="0"/>
            <c:bubble3D val="0"/>
            <c:spPr>
              <a:solidFill>
                <a:srgbClr val="6C061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3E15-4FDF-A853-6AF0732340C4}"/>
              </c:ext>
            </c:extLst>
          </c:dPt>
          <c:dPt>
            <c:idx val="8"/>
            <c:invertIfNegative val="0"/>
            <c:bubble3D val="0"/>
            <c:spPr>
              <a:solidFill>
                <a:srgbClr val="5904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3E15-4FDF-A853-6AF0732340C4}"/>
              </c:ext>
            </c:extLst>
          </c:dPt>
          <c:dPt>
            <c:idx val="9"/>
            <c:invertIfNegative val="0"/>
            <c:bubble3D val="0"/>
            <c:spPr>
              <a:solidFill>
                <a:srgbClr val="46021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3E15-4FDF-A853-6AF0732340C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Burger</c:v>
                </c:pt>
                <c:pt idx="1">
                  <c:v>Chicken</c:v>
                </c:pt>
                <c:pt idx="2">
                  <c:v>Pasta</c:v>
                </c:pt>
                <c:pt idx="3">
                  <c:v>Sandwich</c:v>
                </c:pt>
                <c:pt idx="4">
                  <c:v>Sides</c:v>
                </c:pt>
                <c:pt idx="5">
                  <c:v>Fries</c:v>
                </c:pt>
                <c:pt idx="6">
                  <c:v>Breakfast</c:v>
                </c:pt>
                <c:pt idx="7">
                  <c:v>Wraps</c:v>
                </c:pt>
                <c:pt idx="8">
                  <c:v>Salad</c:v>
                </c:pt>
                <c:pt idx="9">
                  <c:v>Shakes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21460</c:v>
                </c:pt>
                <c:pt idx="1">
                  <c:v>12283</c:v>
                </c:pt>
                <c:pt idx="2">
                  <c:v>9147</c:v>
                </c:pt>
                <c:pt idx="3">
                  <c:v>8132</c:v>
                </c:pt>
                <c:pt idx="4">
                  <c:v>2817</c:v>
                </c:pt>
                <c:pt idx="5">
                  <c:v>2463</c:v>
                </c:pt>
                <c:pt idx="6">
                  <c:v>1269</c:v>
                </c:pt>
                <c:pt idx="7">
                  <c:v>1222</c:v>
                </c:pt>
                <c:pt idx="8">
                  <c:v>1136</c:v>
                </c:pt>
                <c:pt idx="9">
                  <c:v>1073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3E15-4FDF-A853-6AF0732340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EE2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9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Arial"/>
              </a:rPr>
              <a:t>Orders by Time of Day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10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9E9-4D45-92A7-92B68970C45B}"/>
              </c:ext>
            </c:extLst>
          </c:dPt>
          <c:dPt>
            <c:idx val="1"/>
            <c:bubble3D val="0"/>
            <c:spPr>
              <a:solidFill>
                <a:srgbClr val="1A1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9E9-4D45-92A7-92B68970C45B}"/>
              </c:ext>
            </c:extLst>
          </c:dPt>
          <c:dPt>
            <c:idx val="2"/>
            <c:bubble3D val="0"/>
            <c:spPr>
              <a:solidFill>
                <a:srgbClr val="FFC7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9E9-4D45-92A7-92B68970C45B}"/>
              </c:ext>
            </c:extLst>
          </c:dPt>
          <c:dPt>
            <c:idx val="3"/>
            <c:bubble3D val="0"/>
            <c:spPr>
              <a:solidFill>
                <a:srgbClr val="9E9E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9E9-4D45-92A7-92B68970C45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9E9-4D45-92A7-92B68970C45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9E9-4D45-92A7-92B68970C45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9E9-4D45-92A7-92B68970C45B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9E9-4D45-92A7-92B68970C45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Noon</c:v>
                </c:pt>
                <c:pt idx="1">
                  <c:v>Evening</c:v>
                </c:pt>
                <c:pt idx="2">
                  <c:v>Morning</c:v>
                </c:pt>
                <c:pt idx="3">
                  <c:v>Night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6020</c:v>
                </c:pt>
                <c:pt idx="1">
                  <c:v>5259</c:v>
                </c:pt>
                <c:pt idx="2">
                  <c:v>635</c:v>
                </c:pt>
                <c:pt idx="3">
                  <c:v>320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9E9-4D45-92A7-92B68970C4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8F9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Arial"/>
              </a:rPr>
              <a:t>Transactions by Day of Week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810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85F-46AC-98BE-B29D6DF0B4AE}"/>
              </c:ext>
            </c:extLst>
          </c:dPt>
          <c:dPt>
            <c:idx val="1"/>
            <c:invertIfNegative val="0"/>
            <c:bubble3D val="0"/>
            <c:spPr>
              <a:solidFill>
                <a:srgbClr val="D940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85F-46AC-98BE-B29D6DF0B4AE}"/>
              </c:ext>
            </c:extLst>
          </c:dPt>
          <c:dPt>
            <c:idx val="2"/>
            <c:invertIfNegative val="0"/>
            <c:bubble3D val="0"/>
            <c:spPr>
              <a:solidFill>
                <a:srgbClr val="B80D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85F-46AC-98BE-B29D6DF0B4AE}"/>
              </c:ext>
            </c:extLst>
          </c:dPt>
          <c:dPt>
            <c:idx val="3"/>
            <c:invertIfNegative val="0"/>
            <c:bubble3D val="0"/>
            <c:spPr>
              <a:solidFill>
                <a:srgbClr val="A50B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85F-46AC-98BE-B29D6DF0B4AE}"/>
              </c:ext>
            </c:extLst>
          </c:dPt>
          <c:dPt>
            <c:idx val="4"/>
            <c:invertIfNegative val="0"/>
            <c:bubble3D val="0"/>
            <c:spPr>
              <a:solidFill>
                <a:srgbClr val="920A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85F-46AC-98BE-B29D6DF0B4AE}"/>
              </c:ext>
            </c:extLst>
          </c:dPt>
          <c:dPt>
            <c:idx val="5"/>
            <c:invertIfNegative val="0"/>
            <c:bubble3D val="0"/>
            <c:spPr>
              <a:solidFill>
                <a:srgbClr val="7F08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85F-46AC-98BE-B29D6DF0B4AE}"/>
              </c:ext>
            </c:extLst>
          </c:dPt>
          <c:dPt>
            <c:idx val="6"/>
            <c:invertIfNegative val="0"/>
            <c:bubble3D val="0"/>
            <c:spPr>
              <a:solidFill>
                <a:srgbClr val="6C061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85F-46AC-98BE-B29D6DF0B4A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Fri</c:v>
                </c:pt>
                <c:pt idx="2">
                  <c:v>Tue</c:v>
                </c:pt>
                <c:pt idx="3">
                  <c:v>Sun</c:v>
                </c:pt>
                <c:pt idx="4">
                  <c:v>Thu</c:v>
                </c:pt>
                <c:pt idx="5">
                  <c:v>Sat</c:v>
                </c:pt>
                <c:pt idx="6">
                  <c:v>Wed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2010</c:v>
                </c:pt>
                <c:pt idx="1">
                  <c:v>1822</c:v>
                </c:pt>
                <c:pt idx="2">
                  <c:v>1788</c:v>
                </c:pt>
                <c:pt idx="3">
                  <c:v>1776</c:v>
                </c:pt>
                <c:pt idx="4">
                  <c:v>1689</c:v>
                </c:pt>
                <c:pt idx="5">
                  <c:v>1618</c:v>
                </c:pt>
                <c:pt idx="6">
                  <c:v>1531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A85F-46AC-98BE-B29D6DF0B4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EE2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9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ln w="44450" cap="flat">
              <a:solidFill>
                <a:srgbClr val="FFC72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C72C"/>
              </a:solidFill>
              <a:ln w="9525" cap="flat">
                <a:solidFill>
                  <a:srgbClr val="FFC72C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20607</c:v>
                </c:pt>
                <c:pt idx="1">
                  <c:v>19484</c:v>
                </c:pt>
                <c:pt idx="2">
                  <c:v>20913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8C7-40F7-A567-8EDA1C94A3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2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C72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3270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C8102E">
              <a:alpha val="25000"/>
            </a:srgbClr>
          </a:solidFill>
          <a:ln w="12700">
            <a:solidFill>
              <a:srgbClr val="C8102E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FC72C">
              <a:alpha val="20000"/>
            </a:srgbClr>
          </a:solidFill>
          <a:ln w="12700">
            <a:solidFill>
              <a:srgbClr val="FFC72C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109728" cy="292608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FFC72C"/>
                </a:solidFill>
              </a:rPr>
              <a:t>DATA ANALYTICS REPORT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McDonald's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Customer Insights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3886200"/>
            <a:ext cx="4572000" cy="3657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4069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</a:rPr>
              <a:t>Q1 2023  •  12,234 Transactions  •  32 Menu Items  •  5,370 Orders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0" y="4297680"/>
            <a:ext cx="1371600" cy="6400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4297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EDA 2023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6400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C72C"/>
                </a:solidFill>
              </a:rPr>
              <a:t>Key Performance Indicators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965960" cy="1691640"/>
          </a:xfrm>
          <a:prstGeom prst="rect">
            <a:avLst/>
          </a:prstGeom>
          <a:solidFill>
            <a:srgbClr val="C8102E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2651760"/>
            <a:ext cx="1965960" cy="274320"/>
          </a:xfrm>
          <a:prstGeom prst="rect">
            <a:avLst/>
          </a:prstGeom>
          <a:solidFill>
            <a:srgbClr val="FFC72C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173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61,716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2148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72C"/>
                </a:solidFill>
              </a:rPr>
              <a:t>Total Revenue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6517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Q1 2023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234440"/>
            <a:ext cx="1965960" cy="169164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2651760"/>
            <a:ext cx="1965960" cy="274320"/>
          </a:xfrm>
          <a:prstGeom prst="rect">
            <a:avLst/>
          </a:prstGeom>
          <a:solidFill>
            <a:srgbClr val="FFC72C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4173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5,370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68880" y="2148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72C"/>
                </a:solidFill>
              </a:rPr>
              <a:t>Total Orders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26517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Unique Orders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234440"/>
            <a:ext cx="1965960" cy="1691640"/>
          </a:xfrm>
          <a:prstGeom prst="rect">
            <a:avLst/>
          </a:prstGeom>
          <a:solidFill>
            <a:srgbClr val="C8102E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2651760"/>
            <a:ext cx="1965960" cy="274320"/>
          </a:xfrm>
          <a:prstGeom prst="rect">
            <a:avLst/>
          </a:prstGeom>
          <a:solidFill>
            <a:srgbClr val="FFC72C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4173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11.49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17720" y="2148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72C"/>
                </a:solidFill>
              </a:rPr>
              <a:t>Avg Order Value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17720" y="26517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Per Transaction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234440"/>
            <a:ext cx="1965960" cy="169164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2651760"/>
            <a:ext cx="1965960" cy="274320"/>
          </a:xfrm>
          <a:prstGeom prst="rect">
            <a:avLst/>
          </a:prstGeom>
          <a:solidFill>
            <a:srgbClr val="FFC72C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14173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766560" y="2148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72C"/>
                </a:solidFill>
              </a:rPr>
              <a:t>Menu Items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66560" y="26517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10 Categories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108960"/>
            <a:ext cx="8503920" cy="868680"/>
          </a:xfrm>
          <a:prstGeom prst="rect">
            <a:avLst/>
          </a:prstGeom>
          <a:solidFill>
            <a:srgbClr val="FFF3CD"/>
          </a:solidFill>
          <a:ln w="19050">
            <a:solidFill>
              <a:srgbClr val="FFC7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108960"/>
            <a:ext cx="73152" cy="86868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1089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C4A00"/>
                </a:solidFill>
              </a:rPr>
              <a:t>💡  Key Insight: Burger category leads all revenue at $21,460 (35.2%). Noon &amp; Evening together drive over 92% of daily transactions.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CATEGORY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7D7"/>
                </a:solidFill>
              </a:rPr>
              <a:t>Which food categories generate the most sales?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51560"/>
          <a:ext cx="59436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583680" y="1280160"/>
            <a:ext cx="2286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0" y="1280160"/>
            <a:ext cx="73152" cy="7132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5"/>
          <p:cNvSpPr/>
          <p:nvPr/>
        </p:nvSpPr>
        <p:spPr>
          <a:xfrm>
            <a:off x="6720840" y="130759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35.2%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720840" y="168249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</a:rPr>
              <a:t>Burger Share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583680" y="2148840"/>
            <a:ext cx="2286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2148840"/>
            <a:ext cx="73152" cy="71323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2" name="Text 9"/>
          <p:cNvSpPr/>
          <p:nvPr/>
        </p:nvSpPr>
        <p:spPr>
          <a:xfrm>
            <a:off x="6720840" y="217627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20.1%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720840" y="25511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</a:rPr>
              <a:t>Chicken Share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83680" y="3017520"/>
            <a:ext cx="2286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83680" y="3017520"/>
            <a:ext cx="73152" cy="713232"/>
          </a:xfrm>
          <a:prstGeom prst="rect">
            <a:avLst/>
          </a:prstGeom>
          <a:solidFill>
            <a:srgbClr val="E06B00"/>
          </a:solidFill>
          <a:ln/>
        </p:spPr>
      </p:sp>
      <p:sp>
        <p:nvSpPr>
          <p:cNvPr id="16" name="Text 13"/>
          <p:cNvSpPr/>
          <p:nvPr/>
        </p:nvSpPr>
        <p:spPr>
          <a:xfrm>
            <a:off x="6720840" y="304495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15.0%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720840" y="341985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</a:rPr>
              <a:t>Pasta Share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583680" y="3886200"/>
            <a:ext cx="2286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583680" y="3886200"/>
            <a:ext cx="73152" cy="713232"/>
          </a:xfrm>
          <a:prstGeom prst="rect">
            <a:avLst/>
          </a:prstGeom>
          <a:solidFill>
            <a:srgbClr val="1B7B3C"/>
          </a:solidFill>
          <a:ln/>
        </p:spPr>
      </p:sp>
      <p:sp>
        <p:nvSpPr>
          <p:cNvPr id="20" name="Text 17"/>
          <p:cNvSpPr/>
          <p:nvPr/>
        </p:nvSpPr>
        <p:spPr>
          <a:xfrm>
            <a:off x="6720840" y="39136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7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13.3%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720840" y="42885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</a:rPr>
              <a:t>Sandwich Share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REVENUE-GENERATING ITEMS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C72C"/>
                </a:solidFill>
              </a:rPr>
              <a:t>Ranked by total revenue contribution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32918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#  Item Name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0" y="10515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Orders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0" y="10515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</a:rPr>
              <a:t>Revenue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380744"/>
            <a:ext cx="85953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" y="1426464"/>
            <a:ext cx="256032" cy="256032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1426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138074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Meatball Marinara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0" y="138074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</a:rPr>
              <a:t>470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0" y="13807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8102E"/>
                </a:solidFill>
              </a:rPr>
              <a:t>$4,225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1728216"/>
            <a:ext cx="8595360" cy="347472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6" name="Shape 14"/>
          <p:cNvSpPr/>
          <p:nvPr/>
        </p:nvSpPr>
        <p:spPr>
          <a:xfrm>
            <a:off x="347472" y="1773936"/>
            <a:ext cx="256032" cy="256032"/>
          </a:xfrm>
          <a:prstGeom prst="ellipse">
            <a:avLst/>
          </a:prstGeom>
          <a:solidFill>
            <a:srgbClr val="C0C0C0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1773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172821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Quarter Pounder w/ Cheese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0" y="172821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</a:rPr>
              <a:t>583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0" y="17282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8102E"/>
                </a:solidFill>
              </a:rPr>
              <a:t>$3,959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2075688"/>
            <a:ext cx="85953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47472" y="2121408"/>
            <a:ext cx="256032" cy="256032"/>
          </a:xfrm>
          <a:prstGeom prst="ellipse">
            <a:avLst/>
          </a:prstGeom>
          <a:solidFill>
            <a:srgbClr val="C0C0C0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" y="2121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20756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Angus Third Pounder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0" y="20756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</a:rPr>
              <a:t>489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0" y="2075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8102E"/>
                </a:solidFill>
              </a:rPr>
              <a:t>$3,907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2423160"/>
            <a:ext cx="8595360" cy="347472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28" name="Shape 26"/>
          <p:cNvSpPr/>
          <p:nvPr/>
        </p:nvSpPr>
        <p:spPr>
          <a:xfrm>
            <a:off x="347472" y="2468880"/>
            <a:ext cx="256032" cy="256032"/>
          </a:xfrm>
          <a:prstGeom prst="ellipse">
            <a:avLst/>
          </a:prstGeom>
          <a:solidFill>
            <a:srgbClr val="E9ECEF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" y="2468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757D"/>
                </a:solidFill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24231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Bulgogi Burger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0" y="24231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</a:rPr>
              <a:t>588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32320" y="24231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8102E"/>
                </a:solidFill>
              </a:rPr>
              <a:t>$3,816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2770632"/>
            <a:ext cx="85953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347472" y="2816352"/>
            <a:ext cx="256032" cy="256032"/>
          </a:xfrm>
          <a:prstGeom prst="ellipse">
            <a:avLst/>
          </a:prstGeom>
          <a:solidFill>
            <a:srgbClr val="E9ECEF"/>
          </a:solidFill>
          <a:ln/>
        </p:spPr>
      </p:sp>
      <p:sp>
        <p:nvSpPr>
          <p:cNvPr id="35" name="Text 33"/>
          <p:cNvSpPr/>
          <p:nvPr/>
        </p:nvSpPr>
        <p:spPr>
          <a:xfrm>
            <a:off x="347472" y="2816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757D"/>
                </a:solidFill>
              </a:rPr>
              <a:t>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" y="277063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Big Mac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669280" y="27706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</a:rPr>
              <a:t>622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132320" y="27706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8102E"/>
                </a:solidFill>
              </a:rPr>
              <a:t>$3,726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74320" y="3118104"/>
            <a:ext cx="8595360" cy="347472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40" name="Shape 38"/>
          <p:cNvSpPr/>
          <p:nvPr/>
        </p:nvSpPr>
        <p:spPr>
          <a:xfrm>
            <a:off x="347472" y="3163824"/>
            <a:ext cx="256032" cy="256032"/>
          </a:xfrm>
          <a:prstGeom prst="ellipse">
            <a:avLst/>
          </a:prstGeom>
          <a:solidFill>
            <a:srgbClr val="E9ECEF"/>
          </a:solidFill>
          <a:ln/>
        </p:spPr>
      </p:sp>
      <p:sp>
        <p:nvSpPr>
          <p:cNvPr id="41" name="Text 39"/>
          <p:cNvSpPr/>
          <p:nvPr/>
        </p:nvSpPr>
        <p:spPr>
          <a:xfrm>
            <a:off x="347472" y="3163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757D"/>
                </a:solidFill>
              </a:rPr>
              <a:t>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5800" y="311810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Teriyaki Chicken Sandwich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669280" y="311810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</a:rPr>
              <a:t>562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132320" y="311810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8102E"/>
                </a:solidFill>
              </a:rPr>
              <a:t>$3,366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74320" y="3465576"/>
            <a:ext cx="85953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347472" y="3511296"/>
            <a:ext cx="256032" cy="256032"/>
          </a:xfrm>
          <a:prstGeom prst="ellipse">
            <a:avLst/>
          </a:prstGeom>
          <a:solidFill>
            <a:srgbClr val="E9ECEF"/>
          </a:solidFill>
          <a:ln/>
        </p:spPr>
      </p:sp>
      <p:sp>
        <p:nvSpPr>
          <p:cNvPr id="47" name="Text 45"/>
          <p:cNvSpPr/>
          <p:nvPr/>
        </p:nvSpPr>
        <p:spPr>
          <a:xfrm>
            <a:off x="347472" y="3511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757D"/>
                </a:solidFill>
              </a:rPr>
              <a:t>7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5800" y="346557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Spaghetti Bolognese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669280" y="346557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</a:rPr>
              <a:t>367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132320" y="34655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8102E"/>
                </a:solidFill>
              </a:rPr>
              <a:t>$2,932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74320" y="3813048"/>
            <a:ext cx="8595360" cy="347472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52" name="Shape 50"/>
          <p:cNvSpPr/>
          <p:nvPr/>
        </p:nvSpPr>
        <p:spPr>
          <a:xfrm>
            <a:off x="347472" y="3858768"/>
            <a:ext cx="256032" cy="256032"/>
          </a:xfrm>
          <a:prstGeom prst="ellipse">
            <a:avLst/>
          </a:prstGeom>
          <a:solidFill>
            <a:srgbClr val="E9ECEF"/>
          </a:solidFill>
          <a:ln/>
        </p:spPr>
      </p:sp>
      <p:sp>
        <p:nvSpPr>
          <p:cNvPr id="53" name="Text 51"/>
          <p:cNvSpPr/>
          <p:nvPr/>
        </p:nvSpPr>
        <p:spPr>
          <a:xfrm>
            <a:off x="347472" y="3858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757D"/>
                </a:solidFill>
              </a:rPr>
              <a:t>8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85800" y="381304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Bacon Clubhouse Burger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669280" y="38130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</a:rPr>
              <a:t>354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132320" y="38130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8102E"/>
                </a:solidFill>
              </a:rPr>
              <a:t>$2,474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274320" y="4160520"/>
            <a:ext cx="85953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347472" y="4206240"/>
            <a:ext cx="256032" cy="256032"/>
          </a:xfrm>
          <a:prstGeom prst="ellipse">
            <a:avLst/>
          </a:prstGeom>
          <a:solidFill>
            <a:srgbClr val="E9ECEF"/>
          </a:solidFill>
          <a:ln/>
        </p:spPr>
      </p:sp>
      <p:sp>
        <p:nvSpPr>
          <p:cNvPr id="59" name="Text 57"/>
          <p:cNvSpPr/>
          <p:nvPr/>
        </p:nvSpPr>
        <p:spPr>
          <a:xfrm>
            <a:off x="347472" y="4206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757D"/>
                </a:solidFill>
              </a:rPr>
              <a:t>9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85800" y="41605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McLobster Roll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669280" y="41605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</a:rPr>
              <a:t>239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7132320" y="4160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8102E"/>
                </a:solidFill>
              </a:rPr>
              <a:t>$2,388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274320" y="4507992"/>
            <a:ext cx="8595360" cy="347472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64" name="Shape 62"/>
          <p:cNvSpPr/>
          <p:nvPr/>
        </p:nvSpPr>
        <p:spPr>
          <a:xfrm>
            <a:off x="347472" y="4553712"/>
            <a:ext cx="256032" cy="256032"/>
          </a:xfrm>
          <a:prstGeom prst="ellipse">
            <a:avLst/>
          </a:prstGeom>
          <a:solidFill>
            <a:srgbClr val="E9ECEF"/>
          </a:solidFill>
          <a:ln/>
        </p:spPr>
      </p:sp>
      <p:sp>
        <p:nvSpPr>
          <p:cNvPr id="65" name="Text 63"/>
          <p:cNvSpPr/>
          <p:nvPr/>
        </p:nvSpPr>
        <p:spPr>
          <a:xfrm>
            <a:off x="347472" y="4553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757D"/>
                </a:solidFill>
              </a:rPr>
              <a:t>10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85800" y="45079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Chicken Parm Sandwich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5669280" y="45079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</a:rPr>
              <a:t>364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7132320" y="45079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8102E"/>
                </a:solidFill>
              </a:rPr>
              <a:t>$2,180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TIME-BASED SALES ANALYSIS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82880" y="100584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480560" y="1005840"/>
          <a:ext cx="43891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FFF3CD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4343400"/>
            <a:ext cx="64008" cy="59436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3434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4A00"/>
                </a:solidFill>
              </a:rPr>
              <a:t>💡  Noon (49.2%) + Evening (43.0%) = 92.2% of all orders. Monday is the busiest day; Wednesday has the lowest traffic.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REVENUE TREND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C72C"/>
                </a:solidFill>
              </a:rPr>
              <a:t>Q1 2023 — January through March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43000"/>
          <a:ext cx="8229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480560"/>
            <a:ext cx="2606040" cy="548640"/>
          </a:xfrm>
          <a:prstGeom prst="rect">
            <a:avLst/>
          </a:prstGeom>
          <a:solidFill>
            <a:srgbClr val="243358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480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January: $20,607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</a:rPr>
              <a:t>+5.8% vs Feb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91840" y="4480560"/>
            <a:ext cx="2606040" cy="548640"/>
          </a:xfrm>
          <a:prstGeom prst="rect">
            <a:avLst/>
          </a:prstGeom>
          <a:solidFill>
            <a:srgbClr val="243358"/>
          </a:solidFill>
          <a:ln/>
        </p:spPr>
      </p:sp>
      <p:sp>
        <p:nvSpPr>
          <p:cNvPr id="9" name="Text 6"/>
          <p:cNvSpPr/>
          <p:nvPr/>
        </p:nvSpPr>
        <p:spPr>
          <a:xfrm>
            <a:off x="3291840" y="4480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February: $19,484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91840" y="4754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</a:rPr>
              <a:t>Lowest Month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26480" y="4480560"/>
            <a:ext cx="2606040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4480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March: $20,913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26480" y="4754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72C"/>
                </a:solidFill>
              </a:rPr>
              <a:t>Peak Month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2120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C72C"/>
                </a:solidFill>
              </a:rPr>
              <a:t>Data-driven insights for strategic decision making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64008" cy="10972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70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102E"/>
                </a:solidFill>
              </a:rPr>
              <a:t>🍔  Promote Burger Combos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9961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</a:rPr>
              <a:t>Burgers drive 35% of revenue. Bundle with Fries or Shakes to boost average order value from $11.36.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97280"/>
            <a:ext cx="64008" cy="10972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170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⏰  Noon Rush Strategy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49961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</a:rPr>
              <a:t>49% of orders occur at Noon. Add express lanes, pre-built meal deals &amp; digital ordering for faster throughput.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35915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59152"/>
            <a:ext cx="64008" cy="1097280"/>
          </a:xfrm>
          <a:prstGeom prst="rect">
            <a:avLst/>
          </a:prstGeom>
          <a:solidFill>
            <a:srgbClr val="1B7B3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4323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B3C"/>
                </a:solidFill>
              </a:rPr>
              <a:t>📅  Boost Low-Traffic Days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76148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</a:rPr>
              <a:t>Wednesday shows lowest traffic (1,531 orders). Introduce mid-week flash offers to drive footfall.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35915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359152"/>
            <a:ext cx="64008" cy="1097280"/>
          </a:xfrm>
          <a:prstGeom prst="rect">
            <a:avLst/>
          </a:prstGeom>
          <a:solidFill>
            <a:srgbClr val="E06B00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4323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6B00"/>
                </a:solidFill>
              </a:rPr>
              <a:t>🍝  Expand Pasta Range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276148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</a:rPr>
              <a:t>Pasta ranks #3 at $9,147 revenue with just 3 items. Adding 2–3 pasta options could unlock significant upside.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621024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21024"/>
            <a:ext cx="64008" cy="1097280"/>
          </a:xfrm>
          <a:prstGeom prst="rect">
            <a:avLst/>
          </a:prstGeom>
          <a:solidFill>
            <a:srgbClr val="5C35A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6941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35A0"/>
                </a:solidFill>
              </a:rPr>
              <a:t>🌙  Night Shift Optimization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023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</a:rPr>
              <a:t>Night accounts for only 2.6% of orders. Trial late-night value menus to capture after-hours demand.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621024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621024"/>
            <a:ext cx="64008" cy="10972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6941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</a:rPr>
              <a:t>📊  Revenue Segmentation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4023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</a:rPr>
              <a:t>Track High vs Low revenue segments monthly. Use Sales Segment KPIs for staff scheduling &amp; inventory plans.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C8102E">
              <a:alpha val="20000"/>
            </a:srgbClr>
          </a:solidFill>
          <a:ln w="12700">
            <a:solidFill>
              <a:srgbClr val="C8102E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FFC72C">
              <a:alpha val="15000"/>
            </a:srgbClr>
          </a:solidFill>
          <a:ln w="12700">
            <a:solidFill>
              <a:srgbClr val="FFC72C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72C"/>
                </a:solidFill>
              </a:rPr>
              <a:t>KEY TAKEAWAYS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Tells the Story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657600" cy="3657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783080"/>
            <a:ext cx="201168" cy="201168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83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17647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Burgers dominate at $21,460 — protect &amp; grow this segment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201168" cy="201168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219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220370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Noon + Evening account for 92% of daily orders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60904"/>
            <a:ext cx="201168" cy="201168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60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26426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March 2023 was the strongest revenue month at $20,913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099816"/>
            <a:ext cx="201168" cy="201168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0998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308152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Big Mac is the #1 ordered item by volume (622 orders)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538728"/>
            <a:ext cx="201168" cy="201168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538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3520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Pasta is an under-tapped premium category — only 3 items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201168" cy="201168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977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</a:rPr>
              <a:t>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" y="39593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Monday has highest footfall — maximize staffing on this day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-7034" y="4663440"/>
            <a:ext cx="9144000" cy="4800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McDonald's Data Analytics Report  •  Q1 2023  •  Prepared </a:t>
            </a:r>
            <a:r>
              <a:rPr lang="en-US" sz="1100">
                <a:solidFill>
                  <a:srgbClr val="FFFFFF"/>
                </a:solidFill>
              </a:rPr>
              <a:t>by DIMPLE PRAJAPAT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506</Words>
  <Application>Microsoft Office PowerPoint</Application>
  <PresentationFormat>On-screen Show (16:9)</PresentationFormat>
  <Paragraphs>129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McDonald's Sales Analytics Report</dc:title>
  <dc:subject>PptxGenJS Presentation</dc:subject>
  <dc:creator>PptxGenJS</dc:creator>
  <cp:lastModifiedBy>dimple prajapat</cp:lastModifiedBy>
  <cp:revision>2</cp:revision>
  <dcterms:created xsi:type="dcterms:W3CDTF">2026-05-29T08:14:22Z</dcterms:created>
  <dcterms:modified xsi:type="dcterms:W3CDTF">2026-05-29T14:31:16Z</dcterms:modified>
</cp:coreProperties>
</file>